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ugaki" charset="1" panose="00000000000000000000"/>
      <p:regular r:id="rId13"/>
    </p:embeddedFont>
    <p:embeddedFont>
      <p:font typeface="Poly" charset="1" panose="02040503050400000004"/>
      <p:regular r:id="rId14"/>
    </p:embeddedFont>
    <p:embeddedFont>
      <p:font typeface="DM San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3830408" y="5597095"/>
            <a:ext cx="6004836" cy="6883592"/>
          </a:xfrm>
          <a:custGeom>
            <a:avLst/>
            <a:gdLst/>
            <a:ahLst/>
            <a:cxnLst/>
            <a:rect r="r" b="b" t="t" l="l"/>
            <a:pathLst>
              <a:path h="6883592" w="6004836">
                <a:moveTo>
                  <a:pt x="6004836" y="0"/>
                </a:moveTo>
                <a:lnTo>
                  <a:pt x="0" y="0"/>
                </a:lnTo>
                <a:lnTo>
                  <a:pt x="0" y="6883592"/>
                </a:lnTo>
                <a:lnTo>
                  <a:pt x="6004836" y="6883592"/>
                </a:lnTo>
                <a:lnTo>
                  <a:pt x="60048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1547244" y="-2193687"/>
            <a:ext cx="6004836" cy="6883592"/>
          </a:xfrm>
          <a:custGeom>
            <a:avLst/>
            <a:gdLst/>
            <a:ahLst/>
            <a:cxnLst/>
            <a:rect r="r" b="b" t="t" l="l"/>
            <a:pathLst>
              <a:path h="6883592" w="6004836">
                <a:moveTo>
                  <a:pt x="0" y="6883592"/>
                </a:moveTo>
                <a:lnTo>
                  <a:pt x="6004836" y="6883592"/>
                </a:lnTo>
                <a:lnTo>
                  <a:pt x="6004836" y="0"/>
                </a:lnTo>
                <a:lnTo>
                  <a:pt x="0" y="0"/>
                </a:lnTo>
                <a:lnTo>
                  <a:pt x="0" y="68835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5369" y="4319264"/>
            <a:ext cx="11097262" cy="303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78"/>
              </a:lnSpc>
            </a:pPr>
            <a:r>
              <a:rPr lang="en-US" sz="10455">
                <a:solidFill>
                  <a:srgbClr val="2491EB"/>
                </a:solidFill>
                <a:latin typeface="Bugaki"/>
                <a:ea typeface="Bugaki"/>
                <a:cs typeface="Bugaki"/>
                <a:sym typeface="Bugaki"/>
              </a:rPr>
              <a:t>BASES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0109" y="2848724"/>
            <a:ext cx="6227783" cy="67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91"/>
              </a:lnSpc>
              <a:spcBef>
                <a:spcPct val="0"/>
              </a:spcBef>
            </a:pPr>
            <a:r>
              <a:rPr lang="en-US" sz="3922" strike="noStrike" u="none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CONCEPTOS CLAVE SOBRE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9422" y="9396038"/>
            <a:ext cx="5401465" cy="75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</a:pPr>
            <a:r>
              <a:rPr lang="en-US" sz="2619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POR: NORMA CANU Y MIGUEL BALAN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7518" y="1553780"/>
            <a:ext cx="16230600" cy="136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81"/>
              </a:lnSpc>
            </a:pPr>
            <a:r>
              <a:rPr lang="en-US" sz="4744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¿PARA QUÉ SIRVE UNA BASE DE DATOS EN UNA APLICACIÓN WEB?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78049"/>
            <a:ext cx="13935062" cy="442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142" indent="-453071" lvl="1">
              <a:lnSpc>
                <a:spcPts val="5875"/>
              </a:lnSpc>
              <a:buFont typeface="Arial"/>
              <a:buChar char="•"/>
            </a:pPr>
            <a:r>
              <a:rPr lang="en-US" sz="419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Almacena y gestiona información de forma segura y accesible para la aplicación.</a:t>
            </a:r>
          </a:p>
          <a:p>
            <a:pPr algn="l" marL="906142" indent="-453071" lvl="1">
              <a:lnSpc>
                <a:spcPts val="5875"/>
              </a:lnSpc>
              <a:buFont typeface="Arial"/>
              <a:buChar char="•"/>
            </a:pPr>
            <a:r>
              <a:rPr lang="en-US" sz="419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Permite guardar datos de usuarios, productos, pedidos y más en una tienda online.</a:t>
            </a:r>
          </a:p>
          <a:p>
            <a:pPr algn="l" marL="906142" indent="-453071" lvl="1">
              <a:lnSpc>
                <a:spcPts val="5875"/>
              </a:lnSpc>
              <a:buFont typeface="Arial"/>
              <a:buChar char="•"/>
            </a:pPr>
            <a:r>
              <a:rPr lang="en-US" sz="419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Conecta la aplicación web con los datos de manera organizada y eficiente.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3714" y="4295976"/>
            <a:ext cx="12228881" cy="485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44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ORM = Object-Relational Mapping: conecta objetos del código con tablas de la base de datos.</a:t>
            </a:r>
          </a:p>
          <a:p>
            <a:pPr algn="l" marL="0" indent="0" lvl="0">
              <a:lnSpc>
                <a:spcPts val="5544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Facilita consultas y manipulación de datos sin necesidad de escribir SQL manual.</a:t>
            </a:r>
          </a:p>
          <a:p>
            <a:pPr algn="l" marL="0" indent="0" lvl="0">
              <a:lnSpc>
                <a:spcPts val="5544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Mejora la productividad del desarrollador y reduce errores en el código.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700000">
            <a:off x="15224344" y="3272123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2" y="0"/>
                </a:lnTo>
                <a:lnTo>
                  <a:pt x="4069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720282" y="7606459"/>
            <a:ext cx="3589506" cy="4114800"/>
          </a:xfrm>
          <a:custGeom>
            <a:avLst/>
            <a:gdLst/>
            <a:ahLst/>
            <a:cxnLst/>
            <a:rect r="r" b="b" t="t" l="l"/>
            <a:pathLst>
              <a:path h="4114800" w="3589506">
                <a:moveTo>
                  <a:pt x="0" y="0"/>
                </a:moveTo>
                <a:lnTo>
                  <a:pt x="3589507" y="0"/>
                </a:lnTo>
                <a:lnTo>
                  <a:pt x="35895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720282" y="-1396283"/>
            <a:ext cx="3589506" cy="4114800"/>
          </a:xfrm>
          <a:custGeom>
            <a:avLst/>
            <a:gdLst/>
            <a:ahLst/>
            <a:cxnLst/>
            <a:rect r="r" b="b" t="t" l="l"/>
            <a:pathLst>
              <a:path h="4114800" w="3589506">
                <a:moveTo>
                  <a:pt x="0" y="4114800"/>
                </a:moveTo>
                <a:lnTo>
                  <a:pt x="3589507" y="4114800"/>
                </a:lnTo>
                <a:lnTo>
                  <a:pt x="358950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34923" y="1654281"/>
            <a:ext cx="11531540" cy="122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1"/>
              </a:lnSpc>
            </a:pPr>
            <a:r>
              <a:rPr lang="en-US" sz="7791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¿QUÉ ES UN ORM?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7518" y="1372450"/>
            <a:ext cx="10649910" cy="156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2"/>
              </a:lnSpc>
            </a:pPr>
            <a:r>
              <a:rPr lang="en-US" sz="4744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¿QUÉ ES UN MODELO O TABLA Y CÓMO SE DEFINE?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27664" y="3795644"/>
            <a:ext cx="1599010" cy="1599010"/>
          </a:xfrm>
          <a:custGeom>
            <a:avLst/>
            <a:gdLst/>
            <a:ahLst/>
            <a:cxnLst/>
            <a:rect r="r" b="b" t="t" l="l"/>
            <a:pathLst>
              <a:path h="1599010" w="1599010">
                <a:moveTo>
                  <a:pt x="0" y="0"/>
                </a:moveTo>
                <a:lnTo>
                  <a:pt x="1599011" y="0"/>
                </a:lnTo>
                <a:lnTo>
                  <a:pt x="1599011" y="1599010"/>
                </a:lnTo>
                <a:lnTo>
                  <a:pt x="0" y="1599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669" y="7053197"/>
            <a:ext cx="1796344" cy="1753680"/>
          </a:xfrm>
          <a:custGeom>
            <a:avLst/>
            <a:gdLst/>
            <a:ahLst/>
            <a:cxnLst/>
            <a:rect r="r" b="b" t="t" l="l"/>
            <a:pathLst>
              <a:path h="1753680" w="1796344">
                <a:moveTo>
                  <a:pt x="0" y="0"/>
                </a:moveTo>
                <a:lnTo>
                  <a:pt x="1796344" y="0"/>
                </a:lnTo>
                <a:lnTo>
                  <a:pt x="1796344" y="1753680"/>
                </a:lnTo>
                <a:lnTo>
                  <a:pt x="0" y="175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77757" y="3760468"/>
            <a:ext cx="1814870" cy="1674217"/>
          </a:xfrm>
          <a:custGeom>
            <a:avLst/>
            <a:gdLst/>
            <a:ahLst/>
            <a:cxnLst/>
            <a:rect r="r" b="b" t="t" l="l"/>
            <a:pathLst>
              <a:path h="1674217" w="1814870">
                <a:moveTo>
                  <a:pt x="0" y="0"/>
                </a:moveTo>
                <a:lnTo>
                  <a:pt x="1814870" y="0"/>
                </a:lnTo>
                <a:lnTo>
                  <a:pt x="1814870" y="1674217"/>
                </a:lnTo>
                <a:lnTo>
                  <a:pt x="0" y="1674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64194" y="6985494"/>
            <a:ext cx="1518379" cy="1925976"/>
          </a:xfrm>
          <a:custGeom>
            <a:avLst/>
            <a:gdLst/>
            <a:ahLst/>
            <a:cxnLst/>
            <a:rect r="r" b="b" t="t" l="l"/>
            <a:pathLst>
              <a:path h="1925976" w="1518379">
                <a:moveTo>
                  <a:pt x="0" y="0"/>
                </a:moveTo>
                <a:lnTo>
                  <a:pt x="1518379" y="0"/>
                </a:lnTo>
                <a:lnTo>
                  <a:pt x="1518379" y="1925976"/>
                </a:lnTo>
                <a:lnTo>
                  <a:pt x="0" y="1925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73872" y="3500296"/>
            <a:ext cx="5417770" cy="204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4"/>
              </a:lnSpc>
              <a:spcBef>
                <a:spcPct val="0"/>
              </a:spcBef>
            </a:pPr>
            <a:r>
              <a:rPr lang="en-US" sz="382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modelo es una clase en Python que representa una tabla en la base de datos.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43655" y="6852706"/>
            <a:ext cx="4599269" cy="204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4"/>
              </a:lnSpc>
              <a:spcBef>
                <a:spcPct val="0"/>
              </a:spcBef>
            </a:pPr>
            <a:r>
              <a:rPr lang="en-US" sz="382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atributos de la clase corresponden a las columnas de la tabla.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73627" y="3500296"/>
            <a:ext cx="3836574" cy="254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4"/>
              </a:lnSpc>
              <a:spcBef>
                <a:spcPct val="0"/>
              </a:spcBef>
            </a:pPr>
            <a:r>
              <a:rPr lang="en-US" sz="382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define desde el código usando frameworks como SQLAlchemy.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04911" y="6852706"/>
            <a:ext cx="3836574" cy="204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4"/>
              </a:lnSpc>
              <a:spcBef>
                <a:spcPct val="0"/>
              </a:spcBef>
            </a:pPr>
            <a:r>
              <a:rPr lang="en-US" sz="3823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Cada fila de la tabla es una instancia del modelo.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21303" y="2702108"/>
            <a:ext cx="8871416" cy="1995047"/>
            <a:chOff x="0" y="0"/>
            <a:chExt cx="2336505" cy="5254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6504" cy="525444"/>
            </a:xfrm>
            <a:custGeom>
              <a:avLst/>
              <a:gdLst/>
              <a:ahLst/>
              <a:cxnLst/>
              <a:rect r="r" b="b" t="t" l="l"/>
              <a:pathLst>
                <a:path h="525444" w="2336504">
                  <a:moveTo>
                    <a:pt x="44507" y="0"/>
                  </a:moveTo>
                  <a:lnTo>
                    <a:pt x="2291998" y="0"/>
                  </a:lnTo>
                  <a:cubicBezTo>
                    <a:pt x="2303802" y="0"/>
                    <a:pt x="2315122" y="4689"/>
                    <a:pt x="2323469" y="13036"/>
                  </a:cubicBezTo>
                  <a:cubicBezTo>
                    <a:pt x="2331815" y="21382"/>
                    <a:pt x="2336504" y="32703"/>
                    <a:pt x="2336504" y="44507"/>
                  </a:cubicBezTo>
                  <a:lnTo>
                    <a:pt x="2336504" y="480938"/>
                  </a:lnTo>
                  <a:cubicBezTo>
                    <a:pt x="2336504" y="505518"/>
                    <a:pt x="2316578" y="525444"/>
                    <a:pt x="2291998" y="525444"/>
                  </a:cubicBezTo>
                  <a:lnTo>
                    <a:pt x="44507" y="525444"/>
                  </a:lnTo>
                  <a:cubicBezTo>
                    <a:pt x="19926" y="525444"/>
                    <a:pt x="0" y="505518"/>
                    <a:pt x="0" y="480938"/>
                  </a:cubicBezTo>
                  <a:lnTo>
                    <a:pt x="0" y="44507"/>
                  </a:lnTo>
                  <a:cubicBezTo>
                    <a:pt x="0" y="19926"/>
                    <a:pt x="19926" y="0"/>
                    <a:pt x="445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36505" cy="601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71607" y="4982681"/>
            <a:ext cx="8871416" cy="1995047"/>
            <a:chOff x="0" y="0"/>
            <a:chExt cx="2336505" cy="5254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6504" cy="525444"/>
            </a:xfrm>
            <a:custGeom>
              <a:avLst/>
              <a:gdLst/>
              <a:ahLst/>
              <a:cxnLst/>
              <a:rect r="r" b="b" t="t" l="l"/>
              <a:pathLst>
                <a:path h="525444" w="2336504">
                  <a:moveTo>
                    <a:pt x="44507" y="0"/>
                  </a:moveTo>
                  <a:lnTo>
                    <a:pt x="2291998" y="0"/>
                  </a:lnTo>
                  <a:cubicBezTo>
                    <a:pt x="2303802" y="0"/>
                    <a:pt x="2315122" y="4689"/>
                    <a:pt x="2323469" y="13036"/>
                  </a:cubicBezTo>
                  <a:cubicBezTo>
                    <a:pt x="2331815" y="21382"/>
                    <a:pt x="2336504" y="32703"/>
                    <a:pt x="2336504" y="44507"/>
                  </a:cubicBezTo>
                  <a:lnTo>
                    <a:pt x="2336504" y="480938"/>
                  </a:lnTo>
                  <a:cubicBezTo>
                    <a:pt x="2336504" y="505518"/>
                    <a:pt x="2316578" y="525444"/>
                    <a:pt x="2291998" y="525444"/>
                  </a:cubicBezTo>
                  <a:lnTo>
                    <a:pt x="44507" y="525444"/>
                  </a:lnTo>
                  <a:cubicBezTo>
                    <a:pt x="19926" y="525444"/>
                    <a:pt x="0" y="505518"/>
                    <a:pt x="0" y="480938"/>
                  </a:cubicBezTo>
                  <a:lnTo>
                    <a:pt x="0" y="44507"/>
                  </a:lnTo>
                  <a:cubicBezTo>
                    <a:pt x="0" y="19926"/>
                    <a:pt x="19926" y="0"/>
                    <a:pt x="445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336505" cy="601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626892" y="5311645"/>
            <a:ext cx="7562244" cy="14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3"/>
              </a:lnSpc>
            </a:pPr>
            <a:r>
              <a:rPr lang="en-US" sz="337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Realizar cambios dentro de la transacción (insertar, actualizar, eliminar datos).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86973" y="7263253"/>
            <a:ext cx="8871416" cy="1995047"/>
            <a:chOff x="0" y="0"/>
            <a:chExt cx="2336505" cy="5254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6504" cy="525444"/>
            </a:xfrm>
            <a:custGeom>
              <a:avLst/>
              <a:gdLst/>
              <a:ahLst/>
              <a:cxnLst/>
              <a:rect r="r" b="b" t="t" l="l"/>
              <a:pathLst>
                <a:path h="525444" w="2336504">
                  <a:moveTo>
                    <a:pt x="44507" y="0"/>
                  </a:moveTo>
                  <a:lnTo>
                    <a:pt x="2291998" y="0"/>
                  </a:lnTo>
                  <a:cubicBezTo>
                    <a:pt x="2303802" y="0"/>
                    <a:pt x="2315122" y="4689"/>
                    <a:pt x="2323469" y="13036"/>
                  </a:cubicBezTo>
                  <a:cubicBezTo>
                    <a:pt x="2331815" y="21382"/>
                    <a:pt x="2336504" y="32703"/>
                    <a:pt x="2336504" y="44507"/>
                  </a:cubicBezTo>
                  <a:lnTo>
                    <a:pt x="2336504" y="480938"/>
                  </a:lnTo>
                  <a:cubicBezTo>
                    <a:pt x="2336504" y="505518"/>
                    <a:pt x="2316578" y="525444"/>
                    <a:pt x="2291998" y="525444"/>
                  </a:cubicBezTo>
                  <a:lnTo>
                    <a:pt x="44507" y="525444"/>
                  </a:lnTo>
                  <a:cubicBezTo>
                    <a:pt x="19926" y="525444"/>
                    <a:pt x="0" y="505518"/>
                    <a:pt x="0" y="480938"/>
                  </a:cubicBezTo>
                  <a:lnTo>
                    <a:pt x="0" y="44507"/>
                  </a:lnTo>
                  <a:cubicBezTo>
                    <a:pt x="0" y="19926"/>
                    <a:pt x="19926" y="0"/>
                    <a:pt x="445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336505" cy="601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-2077937" y="7078777"/>
            <a:ext cx="5299100" cy="4643939"/>
          </a:xfrm>
          <a:custGeom>
            <a:avLst/>
            <a:gdLst/>
            <a:ahLst/>
            <a:cxnLst/>
            <a:rect r="r" b="b" t="t" l="l"/>
            <a:pathLst>
              <a:path h="4643939" w="5299100">
                <a:moveTo>
                  <a:pt x="5299100" y="0"/>
                </a:moveTo>
                <a:lnTo>
                  <a:pt x="0" y="0"/>
                </a:lnTo>
                <a:lnTo>
                  <a:pt x="0" y="4643939"/>
                </a:lnTo>
                <a:lnTo>
                  <a:pt x="5299100" y="4643939"/>
                </a:lnTo>
                <a:lnTo>
                  <a:pt x="5299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true" flipV="false" rot="-10800000">
            <a:off x="12539333" y="142685"/>
            <a:ext cx="6081945" cy="5329995"/>
          </a:xfrm>
          <a:custGeom>
            <a:avLst/>
            <a:gdLst/>
            <a:ahLst/>
            <a:cxnLst/>
            <a:rect r="r" b="b" t="t" l="l"/>
            <a:pathLst>
              <a:path h="5329995" w="6081945">
                <a:moveTo>
                  <a:pt x="6081945" y="0"/>
                </a:moveTo>
                <a:lnTo>
                  <a:pt x="0" y="0"/>
                </a:lnTo>
                <a:lnTo>
                  <a:pt x="0" y="5329996"/>
                </a:lnTo>
                <a:lnTo>
                  <a:pt x="6081945" y="5329996"/>
                </a:lnTo>
                <a:lnTo>
                  <a:pt x="60819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1506056" y="2984384"/>
            <a:ext cx="1430495" cy="143049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4671" y="1386363"/>
            <a:ext cx="11258009" cy="66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9"/>
              </a:lnSpc>
            </a:pPr>
            <a:r>
              <a:rPr lang="en-US" sz="42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FLUJO DE SESIÓN Y TRANSACCIÓN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21163" y="3239828"/>
            <a:ext cx="7152993" cy="94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3"/>
              </a:lnSpc>
              <a:spcBef>
                <a:spcPct val="0"/>
              </a:spcBef>
            </a:pPr>
            <a:r>
              <a:rPr lang="en-US" sz="337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Iniciar sesión y agrupar operaciones sobre la base de datos.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7808403"/>
            <a:ext cx="6873959" cy="94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3"/>
              </a:lnSpc>
            </a:pPr>
            <a:r>
              <a:rPr lang="en-US" sz="33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Confirmar con commit o cancelar con rollback.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973169" y="5273545"/>
            <a:ext cx="1430495" cy="143049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071725" y="7558752"/>
            <a:ext cx="1430495" cy="143049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63916" y="3173153"/>
            <a:ext cx="1314776" cy="93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79"/>
              </a:lnSpc>
            </a:pPr>
            <a:r>
              <a:rPr lang="en-US" sz="5980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85796" y="5464817"/>
            <a:ext cx="1314776" cy="93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79"/>
              </a:lnSpc>
            </a:pPr>
            <a:r>
              <a:rPr lang="en-US" sz="5980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14565" y="7812289"/>
            <a:ext cx="1314776" cy="93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79"/>
              </a:lnSpc>
            </a:pPr>
            <a:r>
              <a:rPr lang="en-US" sz="5980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55100" y="3741245"/>
            <a:ext cx="10934089" cy="548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2"/>
              </a:lnSpc>
            </a:pPr>
            <a:r>
              <a:rPr lang="en-US" sz="31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base de datos almacena y gestiona información de forma segura en aplicaciones web.</a:t>
            </a:r>
          </a:p>
          <a:p>
            <a:pPr algn="l" marL="0" indent="0" lvl="0">
              <a:lnSpc>
                <a:spcPts val="4352"/>
              </a:lnSpc>
            </a:pPr>
            <a:r>
              <a:rPr lang="en-US" sz="31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ORM conecta código Python con tablas, evitando SQL manual y reduciendo errores.</a:t>
            </a:r>
          </a:p>
          <a:p>
            <a:pPr algn="l" marL="0" indent="0" lvl="0">
              <a:lnSpc>
                <a:spcPts val="4352"/>
              </a:lnSpc>
            </a:pPr>
            <a:r>
              <a:rPr lang="en-US" sz="31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modelos son clases que representan tablas; sus atributos son las columnas.</a:t>
            </a:r>
          </a:p>
          <a:p>
            <a:pPr algn="l" marL="0" indent="0" lvl="0">
              <a:lnSpc>
                <a:spcPts val="4352"/>
              </a:lnSpc>
            </a:pPr>
            <a:r>
              <a:rPr lang="en-US" sz="31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sesiones agrupan operaciones y el commit confirma los cambios.</a:t>
            </a:r>
          </a:p>
          <a:p>
            <a:pPr algn="l" marL="0" indent="0" lvl="0">
              <a:lnSpc>
                <a:spcPts val="4352"/>
              </a:lnSpc>
            </a:pPr>
            <a:r>
              <a:rPr lang="en-US" sz="31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conexión se configura mediante cadenas con host, usuario y contraseña.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4723" y="3316168"/>
            <a:ext cx="4262676" cy="5246370"/>
            <a:chOff x="0" y="0"/>
            <a:chExt cx="6604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2"/>
              <a:stretch>
                <a:fillRect l="0" t="-231" r="0" b="-231"/>
              </a:stretch>
            </a:blipFill>
            <a:ln w="38100" cap="sq">
              <a:solidFill>
                <a:srgbClr val="165EA0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214723" y="1668740"/>
            <a:ext cx="14554135" cy="79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7"/>
              </a:lnSpc>
            </a:pPr>
            <a:r>
              <a:rPr lang="en-US" sz="5026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RESUMEN DE CONCEPTOS CLAVE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-1666877" y="6359034"/>
            <a:ext cx="5064114" cy="5805204"/>
          </a:xfrm>
          <a:custGeom>
            <a:avLst/>
            <a:gdLst/>
            <a:ahLst/>
            <a:cxnLst/>
            <a:rect r="r" b="b" t="t" l="l"/>
            <a:pathLst>
              <a:path h="5805204" w="5064114">
                <a:moveTo>
                  <a:pt x="0" y="0"/>
                </a:moveTo>
                <a:lnTo>
                  <a:pt x="5064114" y="0"/>
                </a:lnTo>
                <a:lnTo>
                  <a:pt x="5064114" y="5805204"/>
                </a:lnTo>
                <a:lnTo>
                  <a:pt x="0" y="5805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5357810" y="-2118491"/>
            <a:ext cx="5064114" cy="5805204"/>
          </a:xfrm>
          <a:custGeom>
            <a:avLst/>
            <a:gdLst/>
            <a:ahLst/>
            <a:cxnLst/>
            <a:rect r="r" b="b" t="t" l="l"/>
            <a:pathLst>
              <a:path h="5805204" w="5064114">
                <a:moveTo>
                  <a:pt x="0" y="0"/>
                </a:moveTo>
                <a:lnTo>
                  <a:pt x="5064114" y="0"/>
                </a:lnTo>
                <a:lnTo>
                  <a:pt x="5064114" y="5805204"/>
                </a:lnTo>
                <a:lnTo>
                  <a:pt x="0" y="5805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5E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3674" y="4106197"/>
            <a:ext cx="11520653" cy="198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10"/>
              </a:lnSpc>
              <a:spcBef>
                <a:spcPct val="0"/>
              </a:spcBef>
            </a:pPr>
            <a:r>
              <a:rPr lang="en-US" sz="6867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¡GRACIAS POR SU ATENCIÓN!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441420" y="370164"/>
            <a:ext cx="3589506" cy="4114800"/>
          </a:xfrm>
          <a:custGeom>
            <a:avLst/>
            <a:gdLst/>
            <a:ahLst/>
            <a:cxnLst/>
            <a:rect r="r" b="b" t="t" l="l"/>
            <a:pathLst>
              <a:path h="4114800" w="3589506">
                <a:moveTo>
                  <a:pt x="0" y="0"/>
                </a:moveTo>
                <a:lnTo>
                  <a:pt x="3589507" y="0"/>
                </a:lnTo>
                <a:lnTo>
                  <a:pt x="35895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744" y="6328726"/>
            <a:ext cx="4079910" cy="3619993"/>
          </a:xfrm>
          <a:custGeom>
            <a:avLst/>
            <a:gdLst/>
            <a:ahLst/>
            <a:cxnLst/>
            <a:rect r="r" b="b" t="t" l="l"/>
            <a:pathLst>
              <a:path h="3619993" w="4079910">
                <a:moveTo>
                  <a:pt x="0" y="0"/>
                </a:moveTo>
                <a:lnTo>
                  <a:pt x="4079910" y="0"/>
                </a:lnTo>
                <a:lnTo>
                  <a:pt x="4079910" y="3619994"/>
                </a:lnTo>
                <a:lnTo>
                  <a:pt x="0" y="3619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DAHGgITUXHE</dc:identifier>
  <dcterms:modified xsi:type="dcterms:W3CDTF">2011-08-01T06:04:30Z</dcterms:modified>
  <cp:revision>1</cp:revision>
  <dc:title>Conceptos Clave de Bases de Datos Web</dc:title>
</cp:coreProperties>
</file>