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ourier Prime" charset="1" panose="00000509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www.google.com/search?q=ciencia+de+datos&amp;rlz=1C1UEAD_enGT1157GT1157&amp;oq=qupe+es+pyhton&amp;gs_lcrp=EgZjaHJvbWUyBggAEEUYOTIJCAEQABgNGIAEMgkIAhAAGA0YgAQyCQgDEAAYDRiABDIJCAQQABgNGIAEMgkIBRAAGA0YgAQyCQgGEAAYDRiABDIJCAcQABgNGIAEMgkICBAAGA0YgAQyCQgJEAAYDRiABNIBCDI1NDZqMGo3qAIAsAIA&amp;sourceid=chrome&amp;ie=UTF-8&amp;mstk=AUtExfAHuAqDdcQR8K7o4NASI6MUWb7ULtFGqHa0wEXUO3nCO-LHCvRRxRKLnm95WiIVLCR1nIsJnDG1Erd40ZmBsriLqtiR3BWgTW6nHa_FYSQ3J6Fx0JCof7jkUxW8OPpQiOQ&amp;csui=3&amp;ved=2ahUKEwiWp_2PsqqTAxXmSjABHVzJL8wQgK4QegYIAQgAEAQ" TargetMode="External" Type="http://schemas.openxmlformats.org/officeDocument/2006/relationships/hyperlink"/><Relationship Id="rId4" Target="https://www.google.com/search?q=inteligencia+artificial&amp;rlz=1C1UEAD_enGT1157GT1157&amp;oq=qupe+es+pyhton&amp;gs_lcrp=EgZjaHJvbWUyBggAEEUYOTIJCAEQABgNGIAEMgkIAhAAGA0YgAQyCQgDEAAYDRiABDIJCAQQABgNGIAEMgkIBRAAGA0YgAQyCQgGEAAYDRiABDIJCAcQABgNGIAEMgkICBAAGA0YgAQyCQgJEAAYDRiABNIBCDI1NDZqMGo3qAIAsAIA&amp;sourceid=chrome&amp;ie=UTF-8&amp;mstk=AUtExfAHuAqDdcQR8K7o4NASI6MUWb7ULtFGqHa0wEXUO3nCO-LHCvRRxRKLnm95WiIVLCR1nIsJnDG1Erd40ZmBsriLqtiR3BWgTW6nHa_FYSQ3J6Fx0JCof7jkUxW8OPpQiOQ&amp;csui=3&amp;ved=2ahUKEwiWp_2PsqqTAxXmSjABHVzJL8wQgK4QegYIAQgAEAU" TargetMode="External" Type="http://schemas.openxmlformats.org/officeDocument/2006/relationships/hyperlink"/><Relationship Id="rId5" Target="https://www.google.com/search?q=desarrollo+web+backend&amp;rlz=1C1UEAD_enGT1157GT1157&amp;oq=qupe+es+pyhton&amp;gs_lcrp=EgZjaHJvbWUyBggAEEUYOTIJCAEQABgNGIAEMgkIAhAAGA0YgAQyCQgDEAAYDRiABDIJCAQQABgNGIAEMgkIBRAAGA0YgAQyCQgGEAAYDRiABDIJCAcQABgNGIAEMgkICBAAGA0YgAQyCQgJEAAYDRiABNIBCDI1NDZqMGo3qAIAsAIA&amp;sourceid=chrome&amp;ie=UTF-8&amp;mstk=AUtExfAHuAqDdcQR8K7o4NASI6MUWb7ULtFGqHa0wEXUO3nCO-LHCvRRxRKLnm95WiIVLCR1nIsJnDG1Erd40ZmBsriLqtiR3BWgTW6nHa_FYSQ3J6Fx0JCof7jkUxW8OPpQiOQ&amp;csui=3&amp;ved=2ahUKEwiWp_2PsqqTAxXmSjABHVzJL8wQgK4QegYIAQgAEAY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google.com/search?q=Sistema+de+Gesti%C3%B3n+de+Bases+de+Datos&amp;sca_esv=945a4ea532ea43f8&amp;rlz=1C1UEAD_enGT1157GT1157&amp;biw=1517&amp;bih=703&amp;sxsrf=ANbL-n7_i8XO0FN0Gs0HBeOVzLv7F5oovw%3A1773875443621&amp;ei=8zC7abbOJYebwbkPsbu6gAM&amp;ved=2ahUKEwjn7evwy6qTAxWGWDABHSLzKWkQgK4QegYIAQgAEAQ&amp;uact=5&amp;oq=qupe+es+una+base+de+datos&amp;gs_lp=Egxnd3Mtd2l6LXNlcnAiGXF1cGUgZXMgdW5hIGJhc2UgZGUgZGF0b3MyBxAAGIAEGA0yBxAAGIAEGA0yBxAAGIAEGA0yBxAAGIAEGA0yBxAAGIAEGA0yBxAAGIAEGA0yBxAAGIAEGA0yBxAAGIAEGA0yBxAAGIAEGA0yBxAAGIAEGA1IoDNQphhYkjJwAngBkAEAmAF-oAHlEqoBBDE2Ljm4AQPIAQD4AQGYAhugAoUUqAIRwgIHECMY6gIYJ8ICChAjGPAFGOoCGCfCAhYQABiABBiKBRhDGOcGGOoCGLQC2AEBwgIQEAAYAxiPARjqAhi0AtgBAcICBBAjGCfCAgoQABiABBiKBRhDwgIFEAAYgATCAg8QLhgKGAsYrwEYxwEYgATCAg8QLhgKGAsYgwEYsQMYgATCAg8QABiABBgKGAsYsQMYgwHCAgkQABiABBgKGAvCAgwQABiABBgKGAsYsQPCAgcQIxixAhgnwgIQEAAYgAQYigUYChixAxiDAcICDRAAGIAEGIoFGAoYsQPCAgcQIxiwAhgnwgIKEAAYgAQYDRixA8ICEBAAGIAEGIoFGA0YsQMYgwHCAg0QABiABBiKBRgNGLEDmAMH8QW35YfUDrWDD7oGBggBEAEYAZIHBTE2LjExoAer5gGyBwUxNC4xMbgH-RPCBwgwLjMuMjIuMsgHeIAIAQ&amp;sclient=gws-wiz-serp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>
            <a:off x="-3294138" y="4385494"/>
            <a:ext cx="9650362" cy="0"/>
          </a:xfrm>
          <a:prstGeom prst="line">
            <a:avLst/>
          </a:prstGeom>
          <a:ln cap="flat" w="95250">
            <a:solidFill>
              <a:srgbClr val="2D2D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537186" y="2704575"/>
            <a:ext cx="10718760" cy="263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97"/>
              </a:lnSpc>
            </a:pPr>
            <a:r>
              <a:rPr lang="en-US" sz="912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Preparación de Entorno {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15791" y="7091193"/>
            <a:ext cx="2471972" cy="1607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77"/>
              </a:lnSpc>
            </a:pPr>
            <a:r>
              <a:rPr lang="en-US" sz="10944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78912" y="5800393"/>
            <a:ext cx="10747189" cy="1323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4"/>
              </a:lnSpc>
            </a:pPr>
            <a:r>
              <a:rPr lang="en-US" sz="376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&lt;Por="Norma Canú", “Miguel Balan”/&gt;</a:t>
            </a:r>
          </a:p>
          <a:p>
            <a:pPr algn="l">
              <a:lnSpc>
                <a:spcPts val="526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194891" y="1687047"/>
            <a:ext cx="11259224" cy="474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736">
                <a:solidFill>
                  <a:srgbClr val="8F8F8F"/>
                </a:solidFill>
                <a:latin typeface="Courier Prime"/>
                <a:ea typeface="Courier Prime"/>
                <a:cs typeface="Courier Prime"/>
                <a:sym typeface="Courier Prime"/>
              </a:rPr>
              <a:t>&lt;!--Taller Desarrollo Web con Python--&gt;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762002" y="-102870"/>
            <a:ext cx="4230823" cy="10389870"/>
            <a:chOff x="0" y="0"/>
            <a:chExt cx="1543416" cy="37902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43416" cy="3790253"/>
            </a:xfrm>
            <a:custGeom>
              <a:avLst/>
              <a:gdLst/>
              <a:ahLst/>
              <a:cxnLst/>
              <a:rect r="r" b="b" t="t" l="l"/>
              <a:pathLst>
                <a:path h="3790253" w="1543416">
                  <a:moveTo>
                    <a:pt x="0" y="0"/>
                  </a:moveTo>
                  <a:lnTo>
                    <a:pt x="1543416" y="0"/>
                  </a:lnTo>
                  <a:lnTo>
                    <a:pt x="1543416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AutoShape 9" id="9"/>
          <p:cNvSpPr/>
          <p:nvPr/>
        </p:nvSpPr>
        <p:spPr>
          <a:xfrm rot="0">
            <a:off x="14666595" y="9210675"/>
            <a:ext cx="1539000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diamond" len="lg" w="lg"/>
            <a:tailEnd type="arrow" len="sm" w="med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-102870"/>
            <a:ext cx="9314578" cy="10389870"/>
            <a:chOff x="0" y="0"/>
            <a:chExt cx="3397983" cy="37902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97983" cy="3790253"/>
            </a:xfrm>
            <a:custGeom>
              <a:avLst/>
              <a:gdLst/>
              <a:ahLst/>
              <a:cxnLst/>
              <a:rect r="r" b="b" t="t" l="l"/>
              <a:pathLst>
                <a:path h="3790253" w="3397983">
                  <a:moveTo>
                    <a:pt x="0" y="0"/>
                  </a:moveTo>
                  <a:lnTo>
                    <a:pt x="3397983" y="0"/>
                  </a:lnTo>
                  <a:lnTo>
                    <a:pt x="3397983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2156332" y="4706303"/>
            <a:ext cx="5179073" cy="89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60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Contenidos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23303" y="853757"/>
            <a:ext cx="8145307" cy="823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Introducción</a:t>
            </a:r>
          </a:p>
          <a:p>
            <a:pPr algn="l">
              <a:lnSpc>
                <a:spcPts val="727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¿Qué es Pyhton?</a:t>
            </a:r>
          </a:p>
          <a:p>
            <a:pPr algn="l">
              <a:lnSpc>
                <a:spcPts val="727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Instalación de Python</a:t>
            </a:r>
          </a:p>
          <a:p>
            <a:pPr algn="l">
              <a:lnSpc>
                <a:spcPts val="727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¿Qué es un IDE?</a:t>
            </a:r>
          </a:p>
          <a:p>
            <a:pPr algn="l">
              <a:lnSpc>
                <a:spcPts val="727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Instalación de Visual Studio Code</a:t>
            </a:r>
          </a:p>
          <a:p>
            <a:pPr algn="l">
              <a:lnSpc>
                <a:spcPts val="727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Bases de datos y MongoDB</a:t>
            </a:r>
          </a:p>
          <a:p>
            <a:pPr algn="l">
              <a:lnSpc>
                <a:spcPts val="727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Configuración de cuenta en Mongo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80829" y="834707"/>
            <a:ext cx="1190401" cy="7474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424"/>
              </a:lnSpc>
            </a:pPr>
            <a:r>
              <a:rPr lang="en-US" sz="4079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01</a:t>
            </a:r>
          </a:p>
          <a:p>
            <a:pPr algn="r">
              <a:lnSpc>
                <a:spcPts val="7424"/>
              </a:lnSpc>
            </a:pPr>
            <a:r>
              <a:rPr lang="en-US" sz="4079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02</a:t>
            </a:r>
          </a:p>
          <a:p>
            <a:pPr algn="r">
              <a:lnSpc>
                <a:spcPts val="7424"/>
              </a:lnSpc>
            </a:pPr>
            <a:r>
              <a:rPr lang="en-US" sz="4079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03</a:t>
            </a:r>
          </a:p>
          <a:p>
            <a:pPr algn="r">
              <a:lnSpc>
                <a:spcPts val="7424"/>
              </a:lnSpc>
            </a:pPr>
            <a:r>
              <a:rPr lang="en-US" sz="4079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04</a:t>
            </a:r>
          </a:p>
          <a:p>
            <a:pPr algn="r">
              <a:lnSpc>
                <a:spcPts val="7424"/>
              </a:lnSpc>
            </a:pPr>
            <a:r>
              <a:rPr lang="en-US" sz="4079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05</a:t>
            </a:r>
          </a:p>
          <a:p>
            <a:pPr algn="r">
              <a:lnSpc>
                <a:spcPts val="7424"/>
              </a:lnSpc>
            </a:pPr>
          </a:p>
          <a:p>
            <a:pPr algn="r">
              <a:lnSpc>
                <a:spcPts val="7424"/>
              </a:lnSpc>
            </a:pPr>
            <a:r>
              <a:rPr lang="en-US" sz="4079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06</a:t>
            </a:r>
          </a:p>
          <a:p>
            <a:pPr algn="r">
              <a:lnSpc>
                <a:spcPts val="7424"/>
              </a:lnSpc>
            </a:pPr>
            <a:r>
              <a:rPr lang="en-US" sz="4079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07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578" y="-102870"/>
            <a:ext cx="16727713" cy="10389870"/>
            <a:chOff x="0" y="0"/>
            <a:chExt cx="6102315" cy="37902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02315" cy="3790253"/>
            </a:xfrm>
            <a:custGeom>
              <a:avLst/>
              <a:gdLst/>
              <a:ahLst/>
              <a:cxnLst/>
              <a:rect r="r" b="b" t="t" l="l"/>
              <a:pathLst>
                <a:path h="3790253" w="6102315">
                  <a:moveTo>
                    <a:pt x="0" y="0"/>
                  </a:moveTo>
                  <a:lnTo>
                    <a:pt x="6102315" y="0"/>
                  </a:lnTo>
                  <a:lnTo>
                    <a:pt x="6102315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047750"/>
            <a:ext cx="7031406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9"/>
              </a:lnSpc>
            </a:pPr>
            <a:r>
              <a:rPr lang="en-US" sz="44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Introducción {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557135" y="8675370"/>
            <a:ext cx="702165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29"/>
              </a:lnSpc>
            </a:pPr>
            <a:r>
              <a:rPr lang="en-US" sz="44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7604" y="2821122"/>
            <a:ext cx="14899647" cy="498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71"/>
              </a:lnSpc>
            </a:pPr>
            <a:r>
              <a:rPr lang="en-US" sz="26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Objetivo: Generar interés y brindar el conocimiento necesario básico que les servirá en proyectos futuros.</a:t>
            </a:r>
          </a:p>
          <a:p>
            <a:pPr algn="just">
              <a:lnSpc>
                <a:spcPts val="3671"/>
              </a:lnSpc>
            </a:pPr>
            <a:r>
              <a:rPr lang="en-US" sz="26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Al finalizar habrán construido una aplicación web funcional que puede guardar y mostrar información real.</a:t>
            </a:r>
          </a:p>
          <a:p>
            <a:pPr algn="just">
              <a:lnSpc>
                <a:spcPts val="3671"/>
              </a:lnSpc>
            </a:pPr>
          </a:p>
          <a:p>
            <a:pPr algn="just" marL="582928" indent="-291464" lvl="1">
              <a:lnSpc>
                <a:spcPts val="3671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¿Por qué Python?: Es uno de los lenguajes más populares y demandados en el mundo laboral por su sintaxis limpia y básica.</a:t>
            </a:r>
          </a:p>
          <a:p>
            <a:pPr algn="just" marL="582928" indent="-291464" lvl="1">
              <a:lnSpc>
                <a:spcPts val="3671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 Stack Tecnológico: Usaremos Python para la lógica (Back-end), Visual Studio Code para escribir el código y MongoDB para guardar nuestros datos</a:t>
            </a:r>
          </a:p>
          <a:p>
            <a:pPr algn="just">
              <a:lnSpc>
                <a:spcPts val="3399"/>
              </a:lnSpc>
            </a:pPr>
          </a:p>
        </p:txBody>
      </p:sp>
      <p:sp>
        <p:nvSpPr>
          <p:cNvPr name="AutoShape 7" id="7"/>
          <p:cNvSpPr/>
          <p:nvPr/>
        </p:nvSpPr>
        <p:spPr>
          <a:xfrm rot="5400000">
            <a:off x="6783951" y="3553290"/>
            <a:ext cx="7985953" cy="0"/>
          </a:xfrm>
          <a:prstGeom prst="line">
            <a:avLst/>
          </a:prstGeom>
          <a:ln cap="flat" w="95250">
            <a:solidFill>
              <a:srgbClr val="2D2D35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88485" y="2426969"/>
            <a:ext cx="14911031" cy="3437009"/>
            <a:chOff x="0" y="0"/>
            <a:chExt cx="5418183" cy="12488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18182" cy="1248897"/>
            </a:xfrm>
            <a:custGeom>
              <a:avLst/>
              <a:gdLst/>
              <a:ahLst/>
              <a:cxnLst/>
              <a:rect r="r" b="b" t="t" l="l"/>
              <a:pathLst>
                <a:path h="1248897" w="5418182">
                  <a:moveTo>
                    <a:pt x="0" y="0"/>
                  </a:moveTo>
                  <a:lnTo>
                    <a:pt x="5418182" y="0"/>
                  </a:lnTo>
                  <a:lnTo>
                    <a:pt x="5418182" y="1248897"/>
                  </a:lnTo>
                  <a:lnTo>
                    <a:pt x="0" y="1248897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88485" y="6585494"/>
            <a:ext cx="14872931" cy="2598034"/>
            <a:chOff x="0" y="0"/>
            <a:chExt cx="5425686" cy="9477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25685" cy="947770"/>
            </a:xfrm>
            <a:custGeom>
              <a:avLst/>
              <a:gdLst/>
              <a:ahLst/>
              <a:cxnLst/>
              <a:rect r="r" b="b" t="t" l="l"/>
              <a:pathLst>
                <a:path h="947770" w="5425685">
                  <a:moveTo>
                    <a:pt x="0" y="0"/>
                  </a:moveTo>
                  <a:lnTo>
                    <a:pt x="5425685" y="0"/>
                  </a:lnTo>
                  <a:lnTo>
                    <a:pt x="5425685" y="947770"/>
                  </a:lnTo>
                  <a:lnTo>
                    <a:pt x="0" y="947770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AutoShape 6" id="6"/>
          <p:cNvSpPr/>
          <p:nvPr/>
        </p:nvSpPr>
        <p:spPr>
          <a:xfrm flipH="true">
            <a:off x="1688485" y="2426969"/>
            <a:ext cx="0" cy="3394098"/>
          </a:xfrm>
          <a:prstGeom prst="line">
            <a:avLst/>
          </a:prstGeom>
          <a:ln cap="flat" w="762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650385" y="6585494"/>
            <a:ext cx="0" cy="2598034"/>
          </a:xfrm>
          <a:prstGeom prst="line">
            <a:avLst/>
          </a:prstGeom>
          <a:ln cap="flat" w="762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4549268" y="435863"/>
            <a:ext cx="3539744" cy="1991106"/>
          </a:xfrm>
          <a:custGeom>
            <a:avLst/>
            <a:gdLst/>
            <a:ahLst/>
            <a:cxnLst/>
            <a:rect r="r" b="b" t="t" l="l"/>
            <a:pathLst>
              <a:path h="1991106" w="3539744">
                <a:moveTo>
                  <a:pt x="0" y="0"/>
                </a:moveTo>
                <a:lnTo>
                  <a:pt x="3539743" y="0"/>
                </a:lnTo>
                <a:lnTo>
                  <a:pt x="3539743" y="1991106"/>
                </a:lnTo>
                <a:lnTo>
                  <a:pt x="0" y="19911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047750"/>
            <a:ext cx="773025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¿Qué es Python? {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05224" y="2842342"/>
            <a:ext cx="13439452" cy="2701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38"/>
              </a:lnSpc>
            </a:pPr>
            <a:r>
              <a:rPr lang="en-US" sz="2924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Python es un lenguaje de programación de alto nivel, versátil y de código abierto, reconocido por su sintaxis sencilla y legible, similar al inglés. Es ideal para principiantes y expertos, utilizado principalmente en </a:t>
            </a:r>
            <a:r>
              <a:rPr lang="en-US" sz="2924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  <a:hlinkClick r:id="rId3" tooltip="https://www.google.com/search?q=ciencia+de+datos&amp;rlz=1C1UEAD_enGT1157GT1157&amp;oq=qupe+es+pyhton&amp;gs_lcrp=EgZjaHJvbWUyBggAEEUYOTIJCAEQABgNGIAEMgkIAhAAGA0YgAQyCQgDEAAYDRiABDIJCAQQABgNGIAEMgkIBRAAGA0YgAQyCQgGEAAYDRiABDIJCAcQABgNGIAEMgkICBAAGA0YgAQyCQgJEAAYDRiABNIBCDI1NDZqMGo3qAIAsAIA&amp;sourceid=chrome&amp;ie=UTF-8&amp;mstk=AUtExfAHuAqDdcQR8K7o4NASI6MUWb7ULtFGqHa0wEXUO3nCO-LHCvRRxRKLnm95WiIVLCR1nIsJnDG1Erd40ZmBsriLqtiR3BWgTW6nHa_FYSQ3J6Fx0JCof7jkUxW8OPpQiOQ&amp;csui=3&amp;ved=2ahUKEwiWp_2PsqqTAxXmSjABHVzJL8wQgK4QegYIAQgAEAQ"/>
              </a:rPr>
              <a:t>ciencia de datos</a:t>
            </a:r>
            <a:r>
              <a:rPr lang="en-US" sz="2924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, </a:t>
            </a:r>
            <a:r>
              <a:rPr lang="en-US" sz="2924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  <a:hlinkClick r:id="rId4" tooltip="https://www.google.com/search?q=inteligencia+artificial&amp;rlz=1C1UEAD_enGT1157GT1157&amp;oq=qupe+es+pyhton&amp;gs_lcrp=EgZjaHJvbWUyBggAEEUYOTIJCAEQABgNGIAEMgkIAhAAGA0YgAQyCQgDEAAYDRiABDIJCAQQABgNGIAEMgkIBRAAGA0YgAQyCQgGEAAYDRiABDIJCAcQABgNGIAEMgkICBAAGA0YgAQyCQgJEAAYDRiABNIBCDI1NDZqMGo3qAIAsAIA&amp;sourceid=chrome&amp;ie=UTF-8&amp;mstk=AUtExfAHuAqDdcQR8K7o4NASI6MUWb7ULtFGqHa0wEXUO3nCO-LHCvRRxRKLnm95WiIVLCR1nIsJnDG1Erd40ZmBsriLqtiR3BWgTW6nHa_FYSQ3J6Fx0JCof7jkUxW8OPpQiOQ&amp;csui=3&amp;ved=2ahUKEwiWp_2PsqqTAxXmSjABHVzJL8wQgK4QegYIAQgAEAU"/>
              </a:rPr>
              <a:t>inteligencia artificial</a:t>
            </a:r>
            <a:r>
              <a:rPr lang="en-US" sz="2924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, </a:t>
            </a:r>
            <a:r>
              <a:rPr lang="en-US" sz="2924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  <a:hlinkClick r:id="rId5" tooltip="https://www.google.com/search?q=desarrollo+web+backend&amp;rlz=1C1UEAD_enGT1157GT1157&amp;oq=qupe+es+pyhton&amp;gs_lcrp=EgZjaHJvbWUyBggAEEUYOTIJCAEQABgNGIAEMgkIAhAAGA0YgAQyCQgDEAAYDRiABDIJCAQQABgNGIAEMgkIBRAAGA0YgAQyCQgGEAAYDRiABDIJCAcQABgNGIAEMgkICBAAGA0YgAQyCQgJEAAYDRiABNIBCDI1NDZqMGo3qAIAsAIA&amp;sourceid=chrome&amp;ie=UTF-8&amp;mstk=AUtExfAHuAqDdcQR8K7o4NASI6MUWb7ULtFGqHa0wEXUO3nCO-LHCvRRxRKLnm95WiIVLCR1nIsJnDG1Erd40ZmBsriLqtiR3BWgTW6nHa_FYSQ3J6Fx0JCof7jkUxW8OPpQiOQ&amp;csui=3&amp;ved=2ahUKEwiWp_2PsqqTAxXmSjABHVzJL8wQgK4QegYIAQgAEAY"/>
              </a:rPr>
              <a:t>desarrollo web backend</a:t>
            </a:r>
            <a:r>
              <a:rPr lang="en-US" sz="2924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y automatización de tareas.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05224" y="7188944"/>
            <a:ext cx="13103927" cy="980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3212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Es uno de los lenguajes más pedidos por las empresas tecnológicas actualmente.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30217" y="3039450"/>
            <a:ext cx="7409245" cy="5908519"/>
          </a:xfrm>
          <a:custGeom>
            <a:avLst/>
            <a:gdLst/>
            <a:ahLst/>
            <a:cxnLst/>
            <a:rect r="r" b="b" t="t" l="l"/>
            <a:pathLst>
              <a:path h="5908519" w="7409245">
                <a:moveTo>
                  <a:pt x="0" y="0"/>
                </a:moveTo>
                <a:lnTo>
                  <a:pt x="7409245" y="0"/>
                </a:lnTo>
                <a:lnTo>
                  <a:pt x="7409245" y="5908519"/>
                </a:lnTo>
                <a:lnTo>
                  <a:pt x="0" y="59085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47750"/>
            <a:ext cx="11606139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Instalemos Python (En Windows) {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31636" y="3551816"/>
            <a:ext cx="6606927" cy="45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Dirígete a Microsoft Store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1636" y="5704705"/>
            <a:ext cx="6737949" cy="89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En el bucador escribimos Python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1636" y="8297410"/>
            <a:ext cx="6288395" cy="89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Descargamos la versión 3.13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1807" y="2496843"/>
            <a:ext cx="1167193" cy="84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3999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649731"/>
            <a:ext cx="1167193" cy="84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3999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1807" y="7240770"/>
            <a:ext cx="1167193" cy="84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3999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88485" y="2426969"/>
            <a:ext cx="14911031" cy="3437009"/>
            <a:chOff x="0" y="0"/>
            <a:chExt cx="5418183" cy="12488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18182" cy="1248897"/>
            </a:xfrm>
            <a:custGeom>
              <a:avLst/>
              <a:gdLst/>
              <a:ahLst/>
              <a:cxnLst/>
              <a:rect r="r" b="b" t="t" l="l"/>
              <a:pathLst>
                <a:path h="1248897" w="5418182">
                  <a:moveTo>
                    <a:pt x="0" y="0"/>
                  </a:moveTo>
                  <a:lnTo>
                    <a:pt x="5418182" y="0"/>
                  </a:lnTo>
                  <a:lnTo>
                    <a:pt x="5418182" y="1248897"/>
                  </a:lnTo>
                  <a:lnTo>
                    <a:pt x="0" y="1248897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88485" y="6585494"/>
            <a:ext cx="14872931" cy="3079461"/>
            <a:chOff x="0" y="0"/>
            <a:chExt cx="5425686" cy="11233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25685" cy="1123396"/>
            </a:xfrm>
            <a:custGeom>
              <a:avLst/>
              <a:gdLst/>
              <a:ahLst/>
              <a:cxnLst/>
              <a:rect r="r" b="b" t="t" l="l"/>
              <a:pathLst>
                <a:path h="1123396" w="5425685">
                  <a:moveTo>
                    <a:pt x="0" y="0"/>
                  </a:moveTo>
                  <a:lnTo>
                    <a:pt x="5425685" y="0"/>
                  </a:lnTo>
                  <a:lnTo>
                    <a:pt x="5425685" y="1123396"/>
                  </a:lnTo>
                  <a:lnTo>
                    <a:pt x="0" y="1123396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AutoShape 6" id="6"/>
          <p:cNvSpPr/>
          <p:nvPr/>
        </p:nvSpPr>
        <p:spPr>
          <a:xfrm flipH="true">
            <a:off x="1688485" y="2426969"/>
            <a:ext cx="0" cy="3394098"/>
          </a:xfrm>
          <a:prstGeom prst="line">
            <a:avLst/>
          </a:prstGeom>
          <a:ln cap="flat" w="762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H="true">
            <a:off x="1520761" y="6585494"/>
            <a:ext cx="129624" cy="3045297"/>
          </a:xfrm>
          <a:prstGeom prst="line">
            <a:avLst/>
          </a:prstGeom>
          <a:ln cap="flat" w="762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1047750"/>
            <a:ext cx="773025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¿Qué es un IDE? {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14512" y="2537669"/>
            <a:ext cx="13942623" cy="320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59"/>
              </a:lnSpc>
            </a:pPr>
            <a:r>
              <a:rPr lang="en-US" sz="3024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Un IDE (Integrated Development Environment) es una aplicación de software que combina herramientas esenciales para programar en una sola interfaz: editor de código, compilador/intérprete y depurador. Facilita la creación de software al automatizar tareas, autocompletar código y resaltar errores, aumentando la productividad del desarrollador.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06991" y="6649103"/>
            <a:ext cx="13103927" cy="3015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3"/>
              </a:lnSpc>
            </a:pPr>
            <a:r>
              <a:rPr lang="en-US" sz="2812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Ejemplos:</a:t>
            </a:r>
          </a:p>
          <a:p>
            <a:pPr algn="l" marL="607277" indent="-303639" lvl="1">
              <a:lnSpc>
                <a:spcPts val="3403"/>
              </a:lnSpc>
              <a:buFont typeface="Arial"/>
              <a:buChar char="•"/>
            </a:pPr>
            <a:r>
              <a:rPr lang="en-US" sz="2812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Visual Studio Code</a:t>
            </a:r>
          </a:p>
          <a:p>
            <a:pPr algn="l" marL="607277" indent="-303639" lvl="1">
              <a:lnSpc>
                <a:spcPts val="3403"/>
              </a:lnSpc>
              <a:buFont typeface="Arial"/>
              <a:buChar char="•"/>
            </a:pPr>
            <a:r>
              <a:rPr lang="en-US" sz="2812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IntelliJ IDEA (Java)</a:t>
            </a:r>
          </a:p>
          <a:p>
            <a:pPr algn="l" marL="607277" indent="-303639" lvl="1">
              <a:lnSpc>
                <a:spcPts val="3403"/>
              </a:lnSpc>
              <a:buFont typeface="Arial"/>
              <a:buChar char="•"/>
            </a:pPr>
            <a:r>
              <a:rPr lang="en-US" sz="2812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PyCharm (Python)</a:t>
            </a:r>
          </a:p>
          <a:p>
            <a:pPr algn="l" marL="607277" indent="-303639" lvl="1">
              <a:lnSpc>
                <a:spcPts val="3403"/>
              </a:lnSpc>
              <a:buFont typeface="Arial"/>
              <a:buChar char="•"/>
            </a:pPr>
            <a:r>
              <a:rPr lang="en-US" sz="2812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Xcode (iOS/macOS)</a:t>
            </a:r>
          </a:p>
          <a:p>
            <a:pPr algn="l" marL="607277" indent="-303639" lvl="1">
              <a:lnSpc>
                <a:spcPts val="3403"/>
              </a:lnSpc>
              <a:buFont typeface="Arial"/>
              <a:buChar char="•"/>
            </a:pPr>
            <a:r>
              <a:rPr lang="en-US" sz="2812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Android Studio (móviles)</a:t>
            </a:r>
          </a:p>
          <a:p>
            <a:pPr algn="l" marL="607277" indent="-303639" lvl="1">
              <a:lnSpc>
                <a:spcPts val="3403"/>
              </a:lnSpc>
              <a:buFont typeface="Arial"/>
              <a:buChar char="•"/>
            </a:pPr>
            <a:r>
              <a:rPr lang="en-US" sz="2812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Eclipse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69355" y="2679456"/>
            <a:ext cx="7660958" cy="6012397"/>
          </a:xfrm>
          <a:custGeom>
            <a:avLst/>
            <a:gdLst/>
            <a:ahLst/>
            <a:cxnLst/>
            <a:rect r="r" b="b" t="t" l="l"/>
            <a:pathLst>
              <a:path h="6012397" w="7660958">
                <a:moveTo>
                  <a:pt x="0" y="0"/>
                </a:moveTo>
                <a:lnTo>
                  <a:pt x="7660958" y="0"/>
                </a:lnTo>
                <a:lnTo>
                  <a:pt x="7660958" y="6012397"/>
                </a:lnTo>
                <a:lnTo>
                  <a:pt x="0" y="60123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47750"/>
            <a:ext cx="11606139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Instalemos Visual Studio Code (En Windows) {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4915" y="3551816"/>
            <a:ext cx="6187618" cy="89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Dirígete a Microsoft Store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7851" y="5704705"/>
            <a:ext cx="5773919" cy="1336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En el bucador escribimos Visual Studio Code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9661" y="8390993"/>
            <a:ext cx="5773919" cy="89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Descargamos la versión disponible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4915" y="2495176"/>
            <a:ext cx="1167193" cy="84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3999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4915" y="4649731"/>
            <a:ext cx="1167193" cy="84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3999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4915" y="7336020"/>
            <a:ext cx="1167193" cy="84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3999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03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44279" y="382766"/>
            <a:ext cx="7524158" cy="4505090"/>
          </a:xfrm>
          <a:custGeom>
            <a:avLst/>
            <a:gdLst/>
            <a:ahLst/>
            <a:cxnLst/>
            <a:rect r="r" b="b" t="t" l="l"/>
            <a:pathLst>
              <a:path h="4505090" w="7524158">
                <a:moveTo>
                  <a:pt x="0" y="0"/>
                </a:moveTo>
                <a:lnTo>
                  <a:pt x="7524158" y="0"/>
                </a:lnTo>
                <a:lnTo>
                  <a:pt x="7524158" y="4505090"/>
                </a:lnTo>
                <a:lnTo>
                  <a:pt x="0" y="45050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544279" y="5192339"/>
            <a:ext cx="7524158" cy="4692592"/>
          </a:xfrm>
          <a:custGeom>
            <a:avLst/>
            <a:gdLst/>
            <a:ahLst/>
            <a:cxnLst/>
            <a:rect r="r" b="b" t="t" l="l"/>
            <a:pathLst>
              <a:path h="4692592" w="7524158">
                <a:moveTo>
                  <a:pt x="0" y="0"/>
                </a:moveTo>
                <a:lnTo>
                  <a:pt x="7524158" y="0"/>
                </a:lnTo>
                <a:lnTo>
                  <a:pt x="7524158" y="4692592"/>
                </a:lnTo>
                <a:lnTo>
                  <a:pt x="0" y="46925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012" r="0" b="-301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47750"/>
            <a:ext cx="11606139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Interfaz Principal {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7851" y="5704705"/>
            <a:ext cx="5773919" cy="282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373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Python (Herrramientas de Microsoft)</a:t>
            </a:r>
          </a:p>
          <a:p>
            <a:pPr algn="l" marL="734059" indent="-367030" lvl="1">
              <a:lnSpc>
                <a:spcPts val="373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Pylance</a:t>
            </a:r>
          </a:p>
          <a:p>
            <a:pPr algn="l" marL="734059" indent="-367030" lvl="1">
              <a:lnSpc>
                <a:spcPts val="373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Python debugger</a:t>
            </a:r>
          </a:p>
          <a:p>
            <a:pPr algn="l" marL="734059" indent="-367030" lvl="1">
              <a:lnSpc>
                <a:spcPts val="3739"/>
              </a:lnSpc>
              <a:buFont typeface="Arial"/>
              <a:buChar char="•"/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54915" y="4649731"/>
            <a:ext cx="8289085" cy="84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3999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Extensiones Recomendadas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489" y="1966280"/>
            <a:ext cx="14911031" cy="3437009"/>
            <a:chOff x="0" y="0"/>
            <a:chExt cx="5418183" cy="12488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18182" cy="1248897"/>
            </a:xfrm>
            <a:custGeom>
              <a:avLst/>
              <a:gdLst/>
              <a:ahLst/>
              <a:cxnLst/>
              <a:rect r="r" b="b" t="t" l="l"/>
              <a:pathLst>
                <a:path h="1248897" w="5418182">
                  <a:moveTo>
                    <a:pt x="0" y="0"/>
                  </a:moveTo>
                  <a:lnTo>
                    <a:pt x="5418182" y="0"/>
                  </a:lnTo>
                  <a:lnTo>
                    <a:pt x="5418182" y="1248897"/>
                  </a:lnTo>
                  <a:lnTo>
                    <a:pt x="0" y="1248897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22489" y="5736664"/>
            <a:ext cx="15238926" cy="3928292"/>
            <a:chOff x="0" y="0"/>
            <a:chExt cx="5559202" cy="14330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559202" cy="1433051"/>
            </a:xfrm>
            <a:custGeom>
              <a:avLst/>
              <a:gdLst/>
              <a:ahLst/>
              <a:cxnLst/>
              <a:rect r="r" b="b" t="t" l="l"/>
              <a:pathLst>
                <a:path h="1433051" w="5559202">
                  <a:moveTo>
                    <a:pt x="0" y="0"/>
                  </a:moveTo>
                  <a:lnTo>
                    <a:pt x="5559202" y="0"/>
                  </a:lnTo>
                  <a:lnTo>
                    <a:pt x="5559202" y="1433051"/>
                  </a:lnTo>
                  <a:lnTo>
                    <a:pt x="0" y="1433051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AutoShape 6" id="6"/>
          <p:cNvSpPr/>
          <p:nvPr/>
        </p:nvSpPr>
        <p:spPr>
          <a:xfrm flipH="true">
            <a:off x="1322489" y="1966280"/>
            <a:ext cx="0" cy="3394098"/>
          </a:xfrm>
          <a:prstGeom prst="line">
            <a:avLst/>
          </a:prstGeom>
          <a:ln cap="flat" w="762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322489" y="5736664"/>
            <a:ext cx="0" cy="3884710"/>
          </a:xfrm>
          <a:prstGeom prst="line">
            <a:avLst/>
          </a:prstGeom>
          <a:ln cap="flat" w="762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1047750"/>
            <a:ext cx="11557512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¿Qué es una base de Datos?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48517" y="2076980"/>
            <a:ext cx="13942623" cy="320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59"/>
              </a:lnSpc>
            </a:pPr>
            <a:r>
              <a:rPr lang="en-US" sz="3024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Una base de datos es un sistema digital que almacena, organiza y gestiona grandes volúmenes de información de manera estructurada para facilitar su rápida búsqueda, consulta y actualización. Funciona mediante un software denominado </a:t>
            </a:r>
            <a:r>
              <a:rPr lang="en-US" sz="3024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  <a:hlinkClick r:id="rId2" tooltip="https://www.google.com/search?q=Sistema+de+Gesti%C3%B3n+de+Bases+de+Datos&amp;sca_esv=945a4ea532ea43f8&amp;rlz=1C1UEAD_enGT1157GT1157&amp;biw=1517&amp;bih=703&amp;sxsrf=ANbL-n7_i8XO0FN0Gs0HBeOVzLv7F5oovw%3A1773875443621&amp;ei=8zC7abbOJYebwbkPsbu6gAM&amp;ved=2ahUKEwjn7evwy6qTAxWGWDABHSLzKWkQgK4QegYIAQgAEAQ&amp;uact=5&amp;oq=qupe+es+una+base+de+datos&amp;gs_lp=Egxnd3Mtd2l6LXNlcnAiGXF1cGUgZXMgdW5hIGJhc2UgZGUgZGF0b3MyBxAAGIAEGA0yBxAAGIAEGA0yBxAAGIAEGA0yBxAAGIAEGA0yBxAAGIAEGA0yBxAAGIAEGA0yBxAAGIAEGA0yBxAAGIAEGA0yBxAAGIAEGA0yBxAAGIAEGA1IoDNQphhYkjJwAngBkAEAmAF-oAHlEqoBBDE2Ljm4AQPIAQD4AQGYAhugAoUUqAIRwgIHECMY6gIYJ8ICChAjGPAFGOoCGCfCAhYQABiABBiKBRhDGOcGGOoCGLQC2AEBwgIQEAAYAxiPARjqAhi0AtgBAcICBBAjGCfCAgoQABiABBiKBRhDwgIFEAAYgATCAg8QLhgKGAsYrwEYxwEYgATCAg8QLhgKGAsYgwEYsQMYgATCAg8QABiABBgKGAsYsQMYgwHCAgkQABiABBgKGAvCAgwQABiABBgKGAsYsQPCAgcQIxixAhgnwgIQEAAYgAQYigUYChixAxiDAcICDRAAGIAEGIoFGAoYsQPCAgcQIxiwAhgnwgIKEAAYgAQYDRixA8ICEBAAGIAEGIoFGA0YsQMYgwHCAg0QABiABBiKBRgNGLEDmAMH8QW35YfUDrWDD7oGBggBEAEYAZIHBTE2LjExoAer5gGyBwUxNC4xMbgH-RPCBwgwLjMuMjIuMsgHeIAIAQ&amp;sclient=gws-wiz-serp"/>
              </a:rPr>
              <a:t>Sistema de Gestión de Bases de Datos</a:t>
            </a:r>
            <a:r>
              <a:rPr lang="en-US" sz="3024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(SGBD o DBMS), que permite manipular datos como texto, números, imágenes o archivos de forma segura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05990" y="5841439"/>
            <a:ext cx="13103927" cy="444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3"/>
              </a:lnSpc>
            </a:pPr>
            <a:r>
              <a:rPr lang="en-US" sz="2812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Tipos de Bases de Datos: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48517" y="6332363"/>
            <a:ext cx="13942623" cy="287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81"/>
              </a:lnSpc>
              <a:spcBef>
                <a:spcPct val="0"/>
              </a:spcBef>
            </a:pPr>
            <a:r>
              <a:rPr lang="en-US" sz="2878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Bases de datos relacionales (RDBMS): Organizan los datos en tablas con filas y columnas, utilizando SQL. Son ideales para datos estructurados y transacciones complejas. Ejemplos: MySQL, PostgreSQL, Oracle.</a:t>
            </a:r>
          </a:p>
          <a:p>
            <a:pPr algn="just">
              <a:lnSpc>
                <a:spcPts val="3281"/>
              </a:lnSpc>
              <a:spcBef>
                <a:spcPct val="0"/>
              </a:spcBef>
            </a:pPr>
            <a:r>
              <a:rPr lang="en-US" sz="2878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Bases de datos no relacionales: Diseñadas para datos no estructurados, semiestructurados o de gran volumen. Ofrecen alta escalabilidad.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2489" y="1966280"/>
            <a:ext cx="14911031" cy="3177220"/>
            <a:chOff x="0" y="0"/>
            <a:chExt cx="5418183" cy="11544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18182" cy="1154498"/>
            </a:xfrm>
            <a:custGeom>
              <a:avLst/>
              <a:gdLst/>
              <a:ahLst/>
              <a:cxnLst/>
              <a:rect r="r" b="b" t="t" l="l"/>
              <a:pathLst>
                <a:path h="1154498" w="5418182">
                  <a:moveTo>
                    <a:pt x="0" y="0"/>
                  </a:moveTo>
                  <a:lnTo>
                    <a:pt x="5418182" y="0"/>
                  </a:lnTo>
                  <a:lnTo>
                    <a:pt x="5418182" y="1154498"/>
                  </a:lnTo>
                  <a:lnTo>
                    <a:pt x="0" y="1154498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8209" y="5476875"/>
            <a:ext cx="15238926" cy="723839"/>
            <a:chOff x="0" y="0"/>
            <a:chExt cx="5559202" cy="2640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559202" cy="264058"/>
            </a:xfrm>
            <a:custGeom>
              <a:avLst/>
              <a:gdLst/>
              <a:ahLst/>
              <a:cxnLst/>
              <a:rect r="r" b="b" t="t" l="l"/>
              <a:pathLst>
                <a:path h="264058" w="5559202">
                  <a:moveTo>
                    <a:pt x="0" y="0"/>
                  </a:moveTo>
                  <a:lnTo>
                    <a:pt x="5559202" y="0"/>
                  </a:lnTo>
                  <a:lnTo>
                    <a:pt x="5559202" y="264058"/>
                  </a:lnTo>
                  <a:lnTo>
                    <a:pt x="0" y="264058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name="AutoShape 6" id="6"/>
          <p:cNvSpPr/>
          <p:nvPr/>
        </p:nvSpPr>
        <p:spPr>
          <a:xfrm flipH="true">
            <a:off x="1322489" y="1966280"/>
            <a:ext cx="0" cy="3137553"/>
          </a:xfrm>
          <a:prstGeom prst="line">
            <a:avLst/>
          </a:prstGeom>
          <a:ln cap="flat" w="762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318209" y="5476875"/>
            <a:ext cx="0" cy="715808"/>
          </a:xfrm>
          <a:prstGeom prst="line">
            <a:avLst/>
          </a:prstGeom>
          <a:ln cap="flat" w="76200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5840781" y="6454378"/>
            <a:ext cx="6606438" cy="3501412"/>
          </a:xfrm>
          <a:custGeom>
            <a:avLst/>
            <a:gdLst/>
            <a:ahLst/>
            <a:cxnLst/>
            <a:rect r="r" b="b" t="t" l="l"/>
            <a:pathLst>
              <a:path h="3501412" w="6606438">
                <a:moveTo>
                  <a:pt x="0" y="0"/>
                </a:moveTo>
                <a:lnTo>
                  <a:pt x="6606438" y="0"/>
                </a:lnTo>
                <a:lnTo>
                  <a:pt x="6606438" y="3501412"/>
                </a:lnTo>
                <a:lnTo>
                  <a:pt x="0" y="35014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047750"/>
            <a:ext cx="11557512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¿Qué es MongoDB?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48517" y="2076980"/>
            <a:ext cx="13942623" cy="2748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59"/>
              </a:lnSpc>
            </a:pPr>
            <a:r>
              <a:rPr lang="en-US" sz="3024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Es un sistema de base de datos NoSQL de código abierto, orientado a documentos y de alto rendimiento. Almacena la información en estructuras flexibles tipo JSON en lugar de tablas, lo que permite esquemas dinámicos, gran escalabilidad y facilidad para manejar datos estructurados o no estructurados.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01709" y="5581650"/>
            <a:ext cx="13103927" cy="87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3"/>
              </a:lnSpc>
            </a:pPr>
            <a:r>
              <a:rPr lang="en-US" sz="2812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https://www.mongodb.com/</a:t>
            </a:r>
          </a:p>
          <a:p>
            <a:pPr algn="l">
              <a:lnSpc>
                <a:spcPts val="3403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88758" y="2643332"/>
            <a:ext cx="5136461" cy="5902363"/>
          </a:xfrm>
          <a:custGeom>
            <a:avLst/>
            <a:gdLst/>
            <a:ahLst/>
            <a:cxnLst/>
            <a:rect r="r" b="b" t="t" l="l"/>
            <a:pathLst>
              <a:path h="5902363" w="5136461">
                <a:moveTo>
                  <a:pt x="0" y="0"/>
                </a:moveTo>
                <a:lnTo>
                  <a:pt x="5136461" y="0"/>
                </a:lnTo>
                <a:lnTo>
                  <a:pt x="5136461" y="5902363"/>
                </a:lnTo>
                <a:lnTo>
                  <a:pt x="0" y="59023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887" r="0" b="-1288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47750"/>
            <a:ext cx="11606139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Creemos una cuenta en MongoDB {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47004" y="3551816"/>
            <a:ext cx="7767124" cy="1336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Nos dirigimos al link:</a:t>
            </a:r>
          </a:p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https://account.mongodb.com/account/register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47004" y="5895205"/>
            <a:ext cx="7767124" cy="2212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Elegimos cómo crear la cuenta, si con una cuenta de Google o de GitHub o llenar datos</a:t>
            </a:r>
          </a:p>
          <a:p>
            <a:pPr algn="l">
              <a:lnSpc>
                <a:spcPts val="3520"/>
              </a:lnSpc>
            </a:pPr>
          </a:p>
          <a:p>
            <a:pPr algn="l">
              <a:lnSpc>
                <a:spcPts val="352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63407" y="2496843"/>
            <a:ext cx="1167193" cy="84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3999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3407" y="4840231"/>
            <a:ext cx="1167193" cy="84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3999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02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3343933"/>
            <a:ext cx="7047445" cy="3205946"/>
          </a:xfrm>
          <a:custGeom>
            <a:avLst/>
            <a:gdLst/>
            <a:ahLst/>
            <a:cxnLst/>
            <a:rect r="r" b="b" t="t" l="l"/>
            <a:pathLst>
              <a:path h="3205946" w="7047445">
                <a:moveTo>
                  <a:pt x="0" y="0"/>
                </a:moveTo>
                <a:lnTo>
                  <a:pt x="7047445" y="0"/>
                </a:lnTo>
                <a:lnTo>
                  <a:pt x="7047445" y="3205946"/>
                </a:lnTo>
                <a:lnTo>
                  <a:pt x="0" y="32059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408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47004" y="5784348"/>
            <a:ext cx="7593338" cy="3473952"/>
          </a:xfrm>
          <a:custGeom>
            <a:avLst/>
            <a:gdLst/>
            <a:ahLst/>
            <a:cxnLst/>
            <a:rect r="r" b="b" t="t" l="l"/>
            <a:pathLst>
              <a:path h="3473952" w="7593338">
                <a:moveTo>
                  <a:pt x="0" y="0"/>
                </a:moveTo>
                <a:lnTo>
                  <a:pt x="7593338" y="0"/>
                </a:lnTo>
                <a:lnTo>
                  <a:pt x="7593338" y="3473952"/>
                </a:lnTo>
                <a:lnTo>
                  <a:pt x="0" y="3473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47750"/>
            <a:ext cx="11606139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Creemos una cuenta en MongoDB {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557135" y="8675370"/>
            <a:ext cx="70216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4915" y="3551816"/>
            <a:ext cx="7767124" cy="89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Aceptamos la Política de </a:t>
            </a:r>
          </a:p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Privacidad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3407" y="2496843"/>
            <a:ext cx="1167193" cy="84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3999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03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400000">
            <a:off x="-2839732" y="3931089"/>
            <a:ext cx="8741551" cy="0"/>
          </a:xfrm>
          <a:prstGeom prst="line">
            <a:avLst/>
          </a:prstGeom>
          <a:ln cap="flat" w="95250">
            <a:solidFill>
              <a:srgbClr val="2D2D3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465123" y="4006308"/>
            <a:ext cx="10718760" cy="132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97"/>
              </a:lnSpc>
            </a:pPr>
            <a:r>
              <a:rPr lang="en-US" sz="912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Gracias {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15791" y="6536903"/>
            <a:ext cx="2471972" cy="1607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77"/>
              </a:lnSpc>
            </a:pPr>
            <a:r>
              <a:rPr lang="en-US" sz="10944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94891" y="1687047"/>
            <a:ext cx="11259224" cy="474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736">
                <a:solidFill>
                  <a:srgbClr val="8F8F8F"/>
                </a:solidFill>
                <a:latin typeface="Courier Prime"/>
                <a:ea typeface="Courier Prime"/>
                <a:cs typeface="Courier Prime"/>
                <a:sym typeface="Courier Prime"/>
              </a:rPr>
              <a:t>&lt;!--Taller Desarrollo Web con Pyhton--&gt;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DAHEVcKf4qg</dc:identifier>
  <dcterms:modified xsi:type="dcterms:W3CDTF">2011-08-01T06:04:30Z</dcterms:modified>
  <cp:revision>1</cp:revision>
  <dc:title>Configuración de Entorno</dc:title>
</cp:coreProperties>
</file>